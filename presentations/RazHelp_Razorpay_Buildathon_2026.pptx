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80" y="1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280160" y="1188720"/>
            <a:ext cx="384048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100" b="1">
                <a:solidFill>
                  <a:srgbClr val="2D81F7"/>
                </a:solidFill>
                <a:latin typeface="Calibri"/>
              </a:defRPr>
            </a:pPr>
            <a:r>
              <a:t>RAZORPAY AI BUILDATHON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830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2D81F7"/>
                </a:solidFill>
                <a:latin typeface="Calibri"/>
              </a:defRPr>
            </a:pPr>
            <a:r>
              <a:t>RazHelp</a:t>
            </a:r>
          </a:p>
          <a:p>
            <a:pPr>
              <a:spcBef>
                <a:spcPts val="400"/>
              </a:spcBef>
              <a:defRPr sz="2800" b="1">
                <a:solidFill>
                  <a:srgbClr val="1A1A2E"/>
                </a:solidFill>
                <a:latin typeface="Calibri"/>
              </a:defRPr>
            </a:pPr>
            <a:r>
              <a:t>Autonomous AI Revenue Recovery Agent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Calibri"/>
              </a:defRPr>
            </a:pPr>
            <a:r>
              <a:t>Track 03: AI Revenue Recovery Engine for Digital Payments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931920"/>
            <a:ext cx="9601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4160520"/>
            <a:ext cx="9601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A1A2E"/>
                </a:solidFill>
                <a:latin typeface="Calibri"/>
              </a:defRPr>
            </a:pPr>
            <a:r>
              <a:t>Built by: Shrihan</a:t>
            </a:r>
          </a:p>
          <a:p>
            <a:pPr>
              <a:spcBef>
                <a:spcPts val="300"/>
              </a:spcBef>
              <a:defRPr sz="1350">
                <a:solidFill>
                  <a:srgbClr val="64748B"/>
                </a:solidFill>
                <a:latin typeface="Calibri"/>
              </a:defRPr>
            </a:pPr>
            <a:r>
              <a:t>Timeline: August 25 – September 3, 2026</a:t>
            </a:r>
          </a:p>
          <a:p>
            <a:pPr>
              <a:spcBef>
                <a:spcPts val="800"/>
              </a:spcBef>
              <a:defRPr sz="1200" b="1">
                <a:solidFill>
                  <a:srgbClr val="2D81F7"/>
                </a:solidFill>
                <a:latin typeface="Calibri"/>
              </a:defRPr>
            </a:pPr>
            <a:r>
              <a:t>FastAPI  ·  PostgreSQL  ·  Gemini 2.5 Flash  ·  XGBoost  ·  Razorpay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The massive cost of unrecovered payment failures in Indian commerce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2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20040" rIns="457200" bIns="320040" rtlCol="0" anchor="ctr"/>
          <a:lstStyle/>
          <a:p>
            <a:pPr>
              <a:spcAft>
                <a:spcPts val="1000"/>
              </a:spcAft>
              <a:defRPr sz="1500">
                <a:latin typeface="Calibri"/>
              </a:defRPr>
            </a:pPr>
            <a:r>
              <a:rPr b="1" dirty="0">
                <a:solidFill>
                  <a:srgbClr val="1A1A2E"/>
                </a:solidFill>
              </a:rPr>
              <a:t>•  </a:t>
            </a:r>
            <a:r>
              <a:rPr b="0" dirty="0">
                <a:solidFill>
                  <a:srgbClr val="1A1A2E"/>
                </a:solidFill>
              </a:rPr>
              <a:t>India processes 10B+ digital payments monthly</a:t>
            </a:r>
          </a:p>
          <a:p>
            <a:pPr>
              <a:spcAft>
                <a:spcPts val="1000"/>
              </a:spcAft>
              <a:defRPr sz="1500">
                <a:latin typeface="Calibri"/>
              </a:defRPr>
            </a:pPr>
            <a:r>
              <a:rPr b="1" dirty="0">
                <a:solidFill>
                  <a:srgbClr val="1A1A2E"/>
                </a:solidFill>
              </a:rPr>
              <a:t>•  </a:t>
            </a:r>
            <a:r>
              <a:rPr b="0" dirty="0">
                <a:solidFill>
                  <a:srgbClr val="1A1A2E"/>
                </a:solidFill>
              </a:rPr>
              <a:t>5-10% fail from technical or user errors</a:t>
            </a:r>
          </a:p>
          <a:p>
            <a:pPr>
              <a:spcAft>
                <a:spcPts val="1000"/>
              </a:spcAft>
              <a:defRPr sz="1500">
                <a:latin typeface="Calibri"/>
              </a:defRPr>
            </a:pPr>
            <a:r>
              <a:rPr b="1" dirty="0">
                <a:solidFill>
                  <a:srgbClr val="1A1A2E"/>
                </a:solidFill>
              </a:rPr>
              <a:t>•  </a:t>
            </a:r>
            <a:r>
              <a:rPr lang="en-US" dirty="0">
                <a:solidFill>
                  <a:srgbClr val="1A1A2E"/>
                </a:solidFill>
              </a:rPr>
              <a:t>Every failed payment equals lost merchant revenue</a:t>
            </a:r>
          </a:p>
          <a:p>
            <a:pPr>
              <a:spcAft>
                <a:spcPts val="1000"/>
              </a:spcAft>
              <a:defRPr sz="1500">
                <a:latin typeface="Calibri"/>
              </a:defRPr>
            </a:pPr>
            <a:r>
              <a:rPr b="1" dirty="0">
                <a:solidFill>
                  <a:srgbClr val="1A1A2E"/>
                </a:solidFill>
              </a:rPr>
              <a:t>•  </a:t>
            </a:r>
            <a:r>
              <a:rPr b="0" dirty="0">
                <a:solidFill>
                  <a:srgbClr val="1A1A2E"/>
                </a:solidFill>
              </a:rPr>
              <a:t>Manual failure review is slow and expensive</a:t>
            </a:r>
          </a:p>
          <a:p>
            <a:pPr>
              <a:spcAft>
                <a:spcPts val="1000"/>
              </a:spcAft>
              <a:defRPr sz="1500">
                <a:latin typeface="Calibri"/>
              </a:defRPr>
            </a:pPr>
            <a:r>
              <a:rPr b="1" dirty="0">
                <a:solidFill>
                  <a:srgbClr val="1A1A2E"/>
                </a:solidFill>
              </a:rPr>
              <a:t>•  </a:t>
            </a:r>
            <a:r>
              <a:rPr b="0" dirty="0">
                <a:solidFill>
                  <a:srgbClr val="1A1A2E"/>
                </a:solidFill>
              </a:rPr>
              <a:t>No reasoning about failure root 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365760" bIns="182880" rtlCol="0" anchor="ctr"/>
          <a:lstStyle/>
          <a:p>
            <a:pPr algn="ctr">
              <a:defRPr sz="2000" b="1">
                <a:solidFill>
                  <a:srgbClr val="EF4444"/>
                </a:solidFill>
                <a:latin typeface="Calibri"/>
              </a:defRPr>
            </a:pPr>
            <a:r>
              <a:rPr dirty="0"/>
              <a:t>Crores lost every day to unrecovered failed payments</a:t>
            </a:r>
          </a:p>
          <a:p>
            <a:pPr algn="ctr">
              <a:spcBef>
                <a:spcPts val="3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rPr dirty="0"/>
              <a:t>Traditional retry rules hammer down banks while customers drop off without guidance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How It Works Today vs RazHelp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Moving from passive error logging to autonomous multi-channel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3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4663440" cy="438912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TODAY: TRADITIONAL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EF4444"/>
                </a:solidFill>
              </a:rPr>
              <a:t>✗  </a:t>
            </a:r>
            <a:r>
              <a:rPr b="0">
                <a:solidFill>
                  <a:srgbClr val="EF4444"/>
                </a:solidFill>
              </a:rPr>
              <a:t>Payment fails during checkout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EF4444"/>
                </a:solidFill>
              </a:rPr>
              <a:t>✗  </a:t>
            </a:r>
            <a:r>
              <a:rPr b="0">
                <a:solidFill>
                  <a:srgbClr val="EF4444"/>
                </a:solidFill>
              </a:rPr>
              <a:t>Merchant receives raw error code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EF4444"/>
                </a:solidFill>
              </a:rPr>
              <a:t>✗  </a:t>
            </a:r>
            <a:r>
              <a:rPr b="0">
                <a:solidFill>
                  <a:srgbClr val="EF4444"/>
                </a:solidFill>
              </a:rPr>
              <a:t>Slow manual investigation begins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EF4444"/>
                </a:solidFill>
              </a:rPr>
              <a:t>✗  </a:t>
            </a:r>
            <a:r>
              <a:rPr b="0">
                <a:solidFill>
                  <a:srgbClr val="EF4444"/>
                </a:solidFill>
              </a:rPr>
              <a:t>Generic retry after fixed time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EF4444"/>
                </a:solidFill>
              </a:rPr>
              <a:t>✗  </a:t>
            </a:r>
            <a:r>
              <a:rPr b="0">
                <a:solidFill>
                  <a:srgbClr val="EF4444"/>
                </a:solidFill>
              </a:rPr>
              <a:t>Customer receives zero message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EF4444"/>
                </a:solidFill>
              </a:rPr>
              <a:t>✗  </a:t>
            </a:r>
            <a:r>
              <a:rPr b="0">
                <a:solidFill>
                  <a:srgbClr val="EF4444"/>
                </a:solidFill>
              </a:rPr>
              <a:t>High revenue lost permanently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2415" y="1828800"/>
            <a:ext cx="4663440" cy="438912"/>
          </a:xfrm>
          <a:prstGeom prst="roundRect">
            <a:avLst/>
          </a:prstGeom>
          <a:solidFill>
            <a:srgbClr val="2D81F7"/>
          </a:solidFill>
          <a:ln w="1270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RAZHELP: AUTONOMOUS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242316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Payment fails during checkout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Webhook received instantly via tunnel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ML classifies failure type accurately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Gemini AI reasons optimal recovery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Smart action dispatched automatically</a:t>
            </a:r>
          </a:p>
          <a:p>
            <a:pPr>
              <a:spcAft>
                <a:spcPts val="1000"/>
              </a:spcAft>
              <a:defRPr sz="145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Net revenue recovered in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What We Handle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Three unified failure streams across one-time, recurring, and B2B invoices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4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920240"/>
            <a:ext cx="2834640" cy="402336"/>
          </a:xfrm>
          <a:prstGeom prst="roundRect">
            <a:avLst/>
          </a:prstGeom>
          <a:solidFill>
            <a:srgbClr val="2D81F7"/>
          </a:solidFill>
          <a:ln w="1270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payment.failed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  <a:latin typeface="Calibri"/>
              </a:defRPr>
            </a:pPr>
            <a:r>
              <a:t>One-Time 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One-time checkout drops</a:t>
            </a:r>
          </a:p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Card decline and OTP freeze</a:t>
            </a:r>
          </a:p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Transient UPI timeout occurrences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212080"/>
            <a:ext cx="2926080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→ Smart retry or alternate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3750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78070" y="1920240"/>
            <a:ext cx="2834640" cy="402336"/>
          </a:xfrm>
          <a:prstGeom prst="roundRect">
            <a:avLst/>
          </a:prstGeom>
          <a:solidFill>
            <a:srgbClr val="1A56B4"/>
          </a:solidFill>
          <a:ln w="12700">
            <a:solidFill>
              <a:srgbClr val="1A5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subscription.halted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07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  <a:latin typeface="Calibri"/>
              </a:defRPr>
            </a:pPr>
            <a:r>
              <a:t>Recurring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070" y="292608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Recurring billing drops</a:t>
            </a:r>
          </a:p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Auto-debit processing decline</a:t>
            </a:r>
          </a:p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Bank mandate failure issues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2350" y="5212080"/>
            <a:ext cx="2926080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→ Re-authorization link 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6895" y="1645920"/>
            <a:ext cx="33832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51215" y="1920240"/>
            <a:ext cx="2834640" cy="402336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invoice.overdue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1215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2E"/>
                </a:solidFill>
                <a:latin typeface="Calibri"/>
              </a:defRPr>
            </a:pPr>
            <a:r>
              <a:t>Commercial Invoices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1215" y="2926080"/>
            <a:ext cx="2834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B2B commercial invoices</a:t>
            </a:r>
          </a:p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Delayed receivables collection</a:t>
            </a:r>
          </a:p>
          <a:p>
            <a:pPr>
              <a:spcAft>
                <a:spcPts val="1000"/>
              </a:spcAft>
              <a:defRPr sz="135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•  </a:t>
            </a:r>
            <a:r>
              <a:rPr b="0">
                <a:solidFill>
                  <a:srgbClr val="1A1A2E"/>
                </a:solidFill>
              </a:rPr>
              <a:t>Automated merchant balance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5495" y="5212080"/>
            <a:ext cx="2926080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→ Multi-tier chaser sequence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Full pipeline: Cryptographic ingestion to dual ML/LLM intelligence and multi-channel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5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1920240"/>
            <a:ext cx="201168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Razorpay Webhook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Signed payload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365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20240"/>
            <a:ext cx="219456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Signature Verifier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HMAC-SHA256 Constant-Time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20240"/>
            <a:ext cx="365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920240"/>
            <a:ext cx="228600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Payload Normalizer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Paise → INR · Unified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65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20240"/>
            <a:ext cx="2286000" cy="5943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PostgreSQL Database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Idempotent Transaction 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560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926080"/>
            <a:ext cx="2651760" cy="640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56B4"/>
                </a:solidFill>
                <a:latin typeface="Calibri"/>
              </a:defRPr>
            </a:pPr>
            <a:r>
              <a:t>ML Classifier Ensemble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XGBoost + Logistic Regression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926080"/>
            <a:ext cx="2651760" cy="640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Gemini AI Agent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Chain-of-Thought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5661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886200"/>
            <a:ext cx="457200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Action Engine Dispatcher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Guardrail Enforcement (Max 3 Retries)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805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4805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4800600"/>
            <a:ext cx="182880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Auto-Retry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Exponential Backoff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800600"/>
            <a:ext cx="182880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Alternate Route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Secondary UPI / Gateway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4800600"/>
            <a:ext cx="182880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Customer Nudge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WhatsApp / SMS / Link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3291840"/>
            <a:ext cx="3474720" cy="914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1A2E"/>
                </a:solidFill>
                <a:latin typeface="Calibri"/>
              </a:defRPr>
            </a:pPr>
            <a:r>
              <a:t>SQL Audit Trail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Full Lifecycle State Persistence</a:t>
            </a:r>
            <a:br/>
            <a:r>
              <a:t>Zero Secret Leakage Guaranteed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20624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81F7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526280"/>
            <a:ext cx="3474720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150" b="1">
                <a:solidFill>
                  <a:srgbClr val="1A56B4"/>
                </a:solidFill>
                <a:latin typeface="Calibri"/>
              </a:defRPr>
            </a:pPr>
            <a:r>
              <a:t>Live Merchant Dashboard</a:t>
            </a:r>
          </a:p>
          <a:p>
            <a:pPr algn="ctr">
              <a:defRPr sz="950">
                <a:solidFill>
                  <a:srgbClr val="64748B"/>
                </a:solidFill>
                <a:latin typeface="Calibri"/>
              </a:defRPr>
            </a:pPr>
            <a:r>
              <a:t>Server-Sent Events (SSE) Stream</a:t>
            </a:r>
            <a:br/>
            <a:r>
              <a:t>Real-Time Revenue Telemetry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Intelligent Failure Classification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8 distinct failure patterns mapped to targeted autonomous recovery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6 of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Recovery Action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insufficient_funds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Suggest UPI + payment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62.2%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network_timeout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 retry after 15 mins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card_blocked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Suggest netbanking + notify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gateway_issue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Auto retry after 30 mins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expired_card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Send update card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authentication_failed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Retry once after 10 mins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53.3%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limit_exceeded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Suggest alternate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A1A2E"/>
                          </a:solidFill>
                          <a:latin typeface="Consolas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Retry after 60 mins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How Gemini Reasons About Failures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Chain-of-thought diagnostic reasoning producing deterministic structured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7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466344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INPUT: CHAIN-OF-THOUGHT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A1A2E"/>
                </a:solidFill>
                <a:latin typeface="Consolas"/>
              </a:defRPr>
            </a:pPr>
            <a:r>
              <a:t>Payment of ₹2,499 failed during checkout</a:t>
            </a:r>
          </a:p>
          <a:p>
            <a:pPr>
              <a:spcAft>
                <a:spcPts val="400"/>
              </a:spcAft>
              <a:defRPr sz="1300" b="0">
                <a:solidFill>
                  <a:srgbClr val="1A1A2E"/>
                </a:solidFill>
                <a:latin typeface="Consolas"/>
              </a:defRPr>
            </a:pPr>
            <a:r>
              <a:t>Error Code: insufficient_funds</a:t>
            </a:r>
          </a:p>
          <a:p>
            <a:pPr>
              <a:spcAft>
                <a:spcPts val="400"/>
              </a:spcAft>
              <a:defRPr sz="1300" b="0">
                <a:solidFill>
                  <a:srgbClr val="1A1A2E"/>
                </a:solidFill>
                <a:latin typeface="Consolas"/>
              </a:defRPr>
            </a:pPr>
            <a:r>
              <a:t>Method: Credit Card (HDFC Bank)</a:t>
            </a:r>
          </a:p>
          <a:p>
            <a:pPr>
              <a:spcAft>
                <a:spcPts val="40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Time: 11:00 PM IST (Late Night)</a:t>
            </a:r>
          </a:p>
          <a:p>
            <a:pPr>
              <a:spcAft>
                <a:spcPts val="40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1A56B4"/>
                </a:solidFill>
                <a:latin typeface="Calibri"/>
              </a:defRPr>
            </a:pPr>
            <a:r>
              <a:t>→ What caused this checkout failure?</a:t>
            </a:r>
          </a:p>
          <a:p>
            <a:pPr>
              <a:spcAft>
                <a:spcPts val="400"/>
              </a:spcAft>
              <a:defRPr sz="1300" b="1">
                <a:solidFill>
                  <a:srgbClr val="1A56B4"/>
                </a:solidFill>
                <a:latin typeface="Calibri"/>
              </a:defRPr>
            </a:pPr>
            <a:r>
              <a:t>→ Is retry likely to succeed?</a:t>
            </a:r>
          </a:p>
          <a:p>
            <a:pPr>
              <a:spcAft>
                <a:spcPts val="400"/>
              </a:spcAft>
              <a:defRPr sz="1300" b="1">
                <a:solidFill>
                  <a:srgbClr val="1A56B4"/>
                </a:solidFill>
                <a:latin typeface="Calibri"/>
              </a:defRPr>
            </a:pPr>
            <a:r>
              <a:t>→ What alternate method works best?</a:t>
            </a:r>
          </a:p>
          <a:p>
            <a:pPr>
              <a:spcAft>
                <a:spcPts val="400"/>
              </a:spcAft>
              <a:defRPr sz="1300" b="1">
                <a:solidFill>
                  <a:srgbClr val="1A56B4"/>
                </a:solidFill>
                <a:latin typeface="Calibri"/>
              </a:defRPr>
            </a:pPr>
            <a:r>
              <a:t>→ What message to send customer?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2415" y="1828800"/>
            <a:ext cx="466344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OUTPUT: STRUCTURED JSON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233172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1A1A2E"/>
                </a:solidFill>
                <a:latin typeface="Consolas"/>
              </a:defRPr>
            </a:pPr>
            <a:r>
              <a:t>{</a:t>
            </a:r>
            <a:br/>
            <a:r>
              <a:t>  "action": "suggest_alternate_method",</a:t>
            </a:r>
            <a:br/>
            <a:r>
              <a:t>  "priority": "high",</a:t>
            </a:r>
            <a:br/>
            <a:r>
              <a:t>  "message": "Try paying via UPI",</a:t>
            </a:r>
            <a:br/>
            <a:r>
              <a:t>  "retry_after": null,</a:t>
            </a:r>
            <a:br/>
            <a:r>
              <a:t>  "alternate_method": "upi",</a:t>
            </a:r>
            <a:br/>
            <a:r>
              <a:t>  "confidence": 0.87</a:t>
            </a:r>
            <a:br/>
            <a: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D81F7"/>
                </a:solidFill>
                <a:latin typeface="Calibri"/>
              </a:defRPr>
            </a:pPr>
            <a:r>
              <a:t>Strict System Prompt  ·  temperature=0.1 — deterministic, structured, not creative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Built-in Guardrails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Enterprise security, zero credential leaks, and algorithmic circuit breakers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8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365760" rIns="548640" bIns="365760" rtlCol="0" anchor="ctr"/>
          <a:lstStyle/>
          <a:p>
            <a:pPr algn="ctr">
              <a:spcAft>
                <a:spcPts val="1600"/>
              </a:spcAft>
              <a:defRPr sz="160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MAX 3 retries enforced in code</a:t>
            </a:r>
          </a:p>
          <a:p>
            <a:pPr>
              <a:spcAft>
                <a:spcPts val="1600"/>
              </a:spcAft>
              <a:defRPr sz="16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LLM cannot write database or gateway</a:t>
            </a:r>
          </a:p>
          <a:p>
            <a:pPr>
              <a:spcAft>
                <a:spcPts val="1600"/>
              </a:spcAft>
              <a:defRPr sz="16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Every decision logged before action executes</a:t>
            </a:r>
          </a:p>
          <a:p>
            <a:pPr>
              <a:spcAft>
                <a:spcPts val="1600"/>
              </a:spcAft>
              <a:defRPr sz="16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HMAC-SHA256 signature verification on every webhook</a:t>
            </a:r>
          </a:p>
          <a:p>
            <a:pPr>
              <a:spcAft>
                <a:spcPts val="1600"/>
              </a:spcAft>
              <a:defRPr sz="16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Constant-time key check prevents timing attacks</a:t>
            </a:r>
          </a:p>
          <a:p>
            <a:pPr>
              <a:spcAft>
                <a:spcPts val="1600"/>
              </a:spcAft>
              <a:defRPr sz="16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Full SQL audit trail across states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Results — All Targets Met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Exceeding production benchmark requirements across latency, cost, and recovery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9 of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75895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Recovery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40–60%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1F7"/>
                          </a:solidFill>
                          <a:latin typeface="Calibri"/>
                        </a:defRPr>
                      </a:pPr>
                      <a:r>
                        <a:t>59.6%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Avg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&lt;3,000ms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1F7"/>
                          </a:solidFill>
                          <a:latin typeface="Calibri"/>
                        </a:defRPr>
                      </a:pPr>
                      <a:r>
                        <a:t>1,864ms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Cost per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&lt;$0.001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1F7"/>
                          </a:solidFill>
                          <a:latin typeface="Calibri"/>
                        </a:defRPr>
                      </a:pPr>
                      <a:r>
                        <a:t>$0.00033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&lt;$5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1F7"/>
                          </a:solidFill>
                          <a:latin typeface="Calibri"/>
                        </a:defRPr>
                      </a:pPr>
                      <a:r>
                        <a:t>₹85.8 ($1.03)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&gt;80%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1F7"/>
                          </a:solidFill>
                          <a:latin typeface="Calibri"/>
                        </a:defRPr>
                      </a:pPr>
                      <a:r>
                        <a:t>212 tests, 0 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Max Retries Enforced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64748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D81F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645920"/>
            <a:ext cx="2956255" cy="4480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0" rIns="274320" rtlCol="0" anchor="ctr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ROI MULTIPLIER</a:t>
            </a:r>
          </a:p>
          <a:p>
            <a:pPr algn="ctr">
              <a:spcBef>
                <a:spcPts val="800"/>
              </a:spcBef>
              <a:defRPr sz="4000" b="1">
                <a:solidFill>
                  <a:srgbClr val="10B981"/>
                </a:solidFill>
                <a:latin typeface="Calibri"/>
              </a:defRPr>
            </a:pPr>
            <a:r>
              <a:t>2,000x+</a:t>
            </a:r>
          </a:p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Return on AI Spend</a:t>
            </a:r>
          </a:p>
          <a:p>
            <a:pPr algn="ctr">
              <a:spcBef>
                <a:spcPts val="14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₹1,69,979 saved revenue with just ₹85.80 estimated monthly AI computing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Live Batch Recovery Demo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20 payments processed — real Razorpay sandbox + real Gemini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10 of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1828800"/>
            <a:ext cx="466344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D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D81F7"/>
                </a:solidFill>
                <a:latin typeface="Calibri"/>
              </a:defRPr>
            </a:pPr>
            <a:r>
              <a:t>BATCH RECOVERY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12 recovered payments (60% success)</a:t>
            </a:r>
          </a:p>
          <a:p>
            <a:pPr>
              <a:spcAft>
                <a:spcPts val="1200"/>
              </a:spcAft>
              <a:defRPr sz="15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8 permanently failed (terminal conditions)</a:t>
            </a:r>
          </a:p>
          <a:p>
            <a:pPr>
              <a:spcAft>
                <a:spcPts val="1200"/>
              </a:spcAft>
              <a:defRPr sz="1500">
                <a:latin typeface="Calibri"/>
              </a:defRPr>
            </a:pPr>
            <a:r>
              <a:rPr b="1">
                <a:solidFill>
                  <a:srgbClr val="2D81F7"/>
                </a:solidFill>
              </a:rPr>
              <a:t>✓  ₹31,346 total net revenue saved</a:t>
            </a:r>
          </a:p>
          <a:p>
            <a:pPr>
              <a:spcAft>
                <a:spcPts val="1200"/>
              </a:spcAft>
              <a:defRPr sz="15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₹78,493 total payment value at risk</a:t>
            </a:r>
          </a:p>
          <a:p>
            <a:pPr>
              <a:spcAft>
                <a:spcPts val="1200"/>
              </a:spcAft>
              <a:defRPr sz="15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23.4 min average recovery duration</a:t>
            </a:r>
          </a:p>
          <a:p>
            <a:pPr>
              <a:spcAft>
                <a:spcPts val="1200"/>
              </a:spcAft>
              <a:defRPr sz="1500">
                <a:latin typeface="Calibri"/>
              </a:defRPr>
            </a:pPr>
            <a:r>
              <a:rPr b="1">
                <a:solidFill>
                  <a:srgbClr val="1A1A2E"/>
                </a:solidFill>
              </a:rPr>
              <a:t>✓  </a:t>
            </a:r>
            <a:r>
              <a:rPr b="0">
                <a:solidFill>
                  <a:srgbClr val="1A1A2E"/>
                </a:solidFill>
              </a:rPr>
              <a:t>$0.00036 average cost per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4592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22415" y="1828800"/>
            <a:ext cx="466344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Calibri"/>
              </a:defRPr>
            </a:pPr>
            <a:r>
              <a:t>CATEGORY RECOVERY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2415" y="237744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onsolas"/>
              </a:rPr>
              <a:t>network_timeout        → </a:t>
            </a:r>
            <a:r>
              <a:rPr sz="1400" b="1">
                <a:solidFill>
                  <a:srgbClr val="10B981"/>
                </a:solidFill>
                <a:latin typeface="Calibri"/>
              </a:rPr>
              <a:t>87.1% recovered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onsolas"/>
              </a:rPr>
              <a:t>gateway_issue          → </a:t>
            </a:r>
            <a:r>
              <a:rPr sz="1400" b="1">
                <a:solidFill>
                  <a:srgbClr val="10B981"/>
                </a:solidFill>
                <a:latin typeface="Calibri"/>
              </a:rPr>
              <a:t>77.8% recovered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onsolas"/>
              </a:rPr>
              <a:t>insufficient_funds     → </a:t>
            </a:r>
            <a:r>
              <a:rPr sz="1400" b="1">
                <a:solidFill>
                  <a:srgbClr val="10B981"/>
                </a:solidFill>
                <a:latin typeface="Calibri"/>
              </a:rPr>
              <a:t>62.2% recovered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onsolas"/>
              </a:rPr>
              <a:t>auth_failed            → </a:t>
            </a:r>
            <a:r>
              <a:rPr sz="1400" b="1">
                <a:solidFill>
                  <a:srgbClr val="10B981"/>
                </a:solidFill>
                <a:latin typeface="Calibri"/>
              </a:rPr>
              <a:t>53.3% recovered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onsolas"/>
              </a:rPr>
              <a:t>limit_exceeded         → </a:t>
            </a:r>
            <a:r>
              <a:rPr sz="1400" b="1">
                <a:solidFill>
                  <a:srgbClr val="64748B"/>
                </a:solidFill>
                <a:latin typeface="Calibri"/>
              </a:rPr>
              <a:t>37.5% recovered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A1A2E"/>
                </a:solidFill>
                <a:latin typeface="Consolas"/>
              </a:rPr>
              <a:t>card_blocked           → </a:t>
            </a:r>
            <a:r>
              <a:rPr sz="1400" b="1">
                <a:solidFill>
                  <a:srgbClr val="64748B"/>
                </a:solidFill>
                <a:latin typeface="Calibri"/>
              </a:rPr>
              <a:t>34.8% recovered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2D81F7"/>
                </a:solidFill>
                <a:latin typeface="Calibri"/>
              </a:rPr>
              <a:t>RazHelp</a:t>
            </a:r>
            <a:r>
              <a:rPr sz="1100">
                <a:solidFill>
                  <a:srgbClr val="E2E8F0"/>
                </a:solidFill>
                <a:latin typeface="Calibri"/>
              </a:rPr>
              <a:t>  |  </a:t>
            </a:r>
            <a:r>
              <a:rPr sz="1000" b="1">
                <a:solidFill>
                  <a:srgbClr val="64748B"/>
                </a:solidFill>
                <a:latin typeface="Calibri"/>
              </a:rPr>
              <a:t>AI REVENUE RECOVERY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Modern, cloud-native architecture optimized for throughput, security, and sub-cent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Razorpay AI Buildathon 2026  ·  Track 03: AI Revenue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11 of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 &amp; Framework</a:t>
                      </a:r>
                    </a:p>
                  </a:txBody>
                  <a:tcPr>
                    <a:solidFill>
                      <a:srgbClr val="2D8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56B4"/>
                          </a:solidFill>
                          <a:latin typeface="Calibri"/>
                        </a:defRPr>
                      </a:pPr>
                      <a:r>
                        <a:t>FastAPI 0.110+ (Asynchronous High Concurrency)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AI / LLM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56B4"/>
                          </a:solidFill>
                          <a:latin typeface="Calibri"/>
                        </a:defRPr>
                      </a:pPr>
                      <a:r>
                        <a:t>Gemini Flash Lite (gemini-flash-lite-latest)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ML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XGBoost + Logistic Regression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PostgreSQL 16 via SQLAlchemy 2.0 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Payments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Razorpay SDK (Test Mode Sandbox)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Authentication &amp;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Key with HMAC Constant-Time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Containerization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Docker + docker-compose (Isolated Services)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Testing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pytest — 212 passed, 0 failures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Caching &amp;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In-Memory LRU + TTL Response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09728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2D81F7"/>
                </a:solidFill>
                <a:latin typeface="Calibri"/>
              </a:defRPr>
            </a:pPr>
            <a:r>
              <a:t>RazHelp</a:t>
            </a:r>
          </a:p>
          <a:p>
            <a:pPr>
              <a:spcBef>
                <a:spcPts val="400"/>
              </a:spcBef>
              <a:defRPr sz="2200" b="1">
                <a:solidFill>
                  <a:srgbClr val="1A1A2E"/>
                </a:solidFill>
                <a:latin typeface="Calibri"/>
              </a:defRPr>
            </a:pPr>
            <a:r>
              <a:t>Autonomous AI Revenue Recovery for Indian Merchants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2651760"/>
            <a:ext cx="9601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9601200" cy="482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Built for: </a:t>
            </a:r>
            <a:r>
              <a:rPr dirty="0" err="1"/>
              <a:t>Razorpay</a:t>
            </a:r>
            <a:r>
              <a:rPr dirty="0"/>
              <a:t> AI </a:t>
            </a:r>
            <a:r>
              <a:rPr dirty="0" err="1"/>
              <a:t>Buildathon</a:t>
            </a:r>
            <a:r>
              <a:rPr dirty="0"/>
              <a:t> 2026 — Track 03: AI Revenue Recovery</a:t>
            </a:r>
          </a:p>
          <a:p>
            <a:pPr>
              <a:spcBef>
                <a:spcPts val="4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Built by: </a:t>
            </a:r>
            <a:r>
              <a:rPr dirty="0" err="1"/>
              <a:t>Shrihan</a:t>
            </a:r>
            <a:r>
              <a:rPr dirty="0"/>
              <a:t>  |  GitHub: github.com/</a:t>
            </a:r>
            <a:r>
              <a:rPr dirty="0" err="1"/>
              <a:t>PendelaShrihan</a:t>
            </a:r>
            <a:r>
              <a:rPr dirty="0"/>
              <a:t>/AI-Revenue-Recovery-Agent-Raz-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434840"/>
            <a:ext cx="9601200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Ins="365760" rtlCol="0" anchor="ctr"/>
          <a:lstStyle/>
          <a:p>
            <a:pPr algn="ctr">
              <a:defRPr sz="2000" b="1">
                <a:solidFill>
                  <a:srgbClr val="1A56B4"/>
                </a:solidFill>
                <a:latin typeface="Calibri"/>
              </a:defRPr>
            </a:pPr>
            <a:r>
              <a:t>“59.6% of failed payments recovered automatically at $0.00033 per recovery”</a:t>
            </a:r>
          </a:p>
          <a:p>
            <a:pPr algn="ctr"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Delivering autonomous diagnostics, adaptive backoff, and culturally tailored customer recovery.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46520"/>
            <a:ext cx="27733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  <a:latin typeface="Calibri"/>
              </a:defRPr>
            </a:pPr>
            <a:r>
              <a:t>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1272</Words>
  <Application>Microsoft Office PowerPoint</Application>
  <PresentationFormat>Widescreen</PresentationFormat>
  <Paragraphs>249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SHRIHAN PENDELA (RA2411056010202)</cp:lastModifiedBy>
  <cp:revision>3</cp:revision>
  <dcterms:created xsi:type="dcterms:W3CDTF">2013-01-27T09:14:16Z</dcterms:created>
  <dcterms:modified xsi:type="dcterms:W3CDTF">2026-09-05T13:55:31Z</dcterms:modified>
  <cp:category/>
</cp:coreProperties>
</file>